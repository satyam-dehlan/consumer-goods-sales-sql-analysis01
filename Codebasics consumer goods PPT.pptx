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8" r:id="rId3"/>
    <p:sldId id="269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C1A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784011" y="1189203"/>
            <a:ext cx="408305" cy="819150"/>
          </a:xfrm>
          <a:custGeom>
            <a:avLst/>
            <a:gdLst/>
            <a:ahLst/>
            <a:cxnLst/>
            <a:rect l="l" t="t" r="r" b="b"/>
            <a:pathLst>
              <a:path w="408304" h="819150">
                <a:moveTo>
                  <a:pt x="407988" y="819149"/>
                </a:moveTo>
                <a:lnTo>
                  <a:pt x="356960" y="815974"/>
                </a:lnTo>
                <a:lnTo>
                  <a:pt x="307748" y="806676"/>
                </a:lnTo>
                <a:lnTo>
                  <a:pt x="260803" y="791482"/>
                </a:lnTo>
                <a:lnTo>
                  <a:pt x="216127" y="771298"/>
                </a:lnTo>
                <a:lnTo>
                  <a:pt x="174852" y="745898"/>
                </a:lnTo>
                <a:lnTo>
                  <a:pt x="136978" y="715735"/>
                </a:lnTo>
                <a:lnTo>
                  <a:pt x="102960" y="681491"/>
                </a:lnTo>
                <a:lnTo>
                  <a:pt x="73251" y="643617"/>
                </a:lnTo>
                <a:lnTo>
                  <a:pt x="47851" y="602116"/>
                </a:lnTo>
                <a:lnTo>
                  <a:pt x="27441" y="557666"/>
                </a:lnTo>
                <a:lnTo>
                  <a:pt x="12473" y="510494"/>
                </a:lnTo>
                <a:lnTo>
                  <a:pt x="3174" y="461055"/>
                </a:lnTo>
                <a:lnTo>
                  <a:pt x="0" y="409574"/>
                </a:lnTo>
                <a:lnTo>
                  <a:pt x="906" y="383721"/>
                </a:lnTo>
                <a:lnTo>
                  <a:pt x="7256" y="333148"/>
                </a:lnTo>
                <a:lnTo>
                  <a:pt x="19276" y="284842"/>
                </a:lnTo>
                <a:lnTo>
                  <a:pt x="36966" y="239032"/>
                </a:lnTo>
                <a:lnTo>
                  <a:pt x="60098" y="195942"/>
                </a:lnTo>
                <a:lnTo>
                  <a:pt x="87539" y="156255"/>
                </a:lnTo>
                <a:lnTo>
                  <a:pt x="119516" y="119969"/>
                </a:lnTo>
                <a:lnTo>
                  <a:pt x="155574" y="87992"/>
                </a:lnTo>
                <a:lnTo>
                  <a:pt x="195035" y="60324"/>
                </a:lnTo>
                <a:lnTo>
                  <a:pt x="238124" y="37192"/>
                </a:lnTo>
                <a:lnTo>
                  <a:pt x="283708" y="19276"/>
                </a:lnTo>
                <a:lnTo>
                  <a:pt x="332014" y="7257"/>
                </a:lnTo>
                <a:lnTo>
                  <a:pt x="382360" y="1133"/>
                </a:lnTo>
                <a:lnTo>
                  <a:pt x="407988" y="0"/>
                </a:lnTo>
                <a:lnTo>
                  <a:pt x="407988" y="819149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73854" y="1257300"/>
            <a:ext cx="0" cy="5600700"/>
          </a:xfrm>
          <a:custGeom>
            <a:avLst/>
            <a:gdLst/>
            <a:ahLst/>
            <a:cxnLst/>
            <a:rect l="l" t="t" r="r" b="b"/>
            <a:pathLst>
              <a:path h="5600700">
                <a:moveTo>
                  <a:pt x="0" y="0"/>
                </a:moveTo>
                <a:lnTo>
                  <a:pt x="0" y="5600699"/>
                </a:lnTo>
              </a:path>
            </a:pathLst>
          </a:custGeom>
          <a:ln w="25399">
            <a:solidFill>
              <a:srgbClr val="F4F4F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3087" y="1804300"/>
            <a:ext cx="6185824" cy="50536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90524" y="991530"/>
            <a:ext cx="139954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FF99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FFF1C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FF99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F1C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FF99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784010" y="1189203"/>
            <a:ext cx="408305" cy="819150"/>
          </a:xfrm>
          <a:custGeom>
            <a:avLst/>
            <a:gdLst/>
            <a:ahLst/>
            <a:cxnLst/>
            <a:rect l="l" t="t" r="r" b="b"/>
            <a:pathLst>
              <a:path w="408304" h="819150">
                <a:moveTo>
                  <a:pt x="407988" y="819149"/>
                </a:moveTo>
                <a:lnTo>
                  <a:pt x="356960" y="815974"/>
                </a:lnTo>
                <a:lnTo>
                  <a:pt x="307748" y="806676"/>
                </a:lnTo>
                <a:lnTo>
                  <a:pt x="260803" y="791482"/>
                </a:lnTo>
                <a:lnTo>
                  <a:pt x="216127" y="771298"/>
                </a:lnTo>
                <a:lnTo>
                  <a:pt x="174852" y="745898"/>
                </a:lnTo>
                <a:lnTo>
                  <a:pt x="136978" y="715735"/>
                </a:lnTo>
                <a:lnTo>
                  <a:pt x="102960" y="681491"/>
                </a:lnTo>
                <a:lnTo>
                  <a:pt x="73251" y="643617"/>
                </a:lnTo>
                <a:lnTo>
                  <a:pt x="47851" y="602116"/>
                </a:lnTo>
                <a:lnTo>
                  <a:pt x="27441" y="557666"/>
                </a:lnTo>
                <a:lnTo>
                  <a:pt x="12473" y="510494"/>
                </a:lnTo>
                <a:lnTo>
                  <a:pt x="3174" y="461055"/>
                </a:lnTo>
                <a:lnTo>
                  <a:pt x="0" y="409574"/>
                </a:lnTo>
                <a:lnTo>
                  <a:pt x="906" y="383721"/>
                </a:lnTo>
                <a:lnTo>
                  <a:pt x="7256" y="333148"/>
                </a:lnTo>
                <a:lnTo>
                  <a:pt x="19276" y="284842"/>
                </a:lnTo>
                <a:lnTo>
                  <a:pt x="36966" y="239032"/>
                </a:lnTo>
                <a:lnTo>
                  <a:pt x="60098" y="195942"/>
                </a:lnTo>
                <a:lnTo>
                  <a:pt x="87539" y="156255"/>
                </a:lnTo>
                <a:lnTo>
                  <a:pt x="119516" y="119969"/>
                </a:lnTo>
                <a:lnTo>
                  <a:pt x="155574" y="87992"/>
                </a:lnTo>
                <a:lnTo>
                  <a:pt x="195035" y="60324"/>
                </a:lnTo>
                <a:lnTo>
                  <a:pt x="238124" y="37192"/>
                </a:lnTo>
                <a:lnTo>
                  <a:pt x="283708" y="19276"/>
                </a:lnTo>
                <a:lnTo>
                  <a:pt x="332014" y="7257"/>
                </a:lnTo>
                <a:lnTo>
                  <a:pt x="382360" y="1133"/>
                </a:lnTo>
                <a:lnTo>
                  <a:pt x="407988" y="0"/>
                </a:lnTo>
                <a:lnTo>
                  <a:pt x="407988" y="819149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73854" y="1257300"/>
            <a:ext cx="0" cy="5600700"/>
          </a:xfrm>
          <a:custGeom>
            <a:avLst/>
            <a:gdLst/>
            <a:ahLst/>
            <a:cxnLst/>
            <a:rect l="l" t="t" r="r" b="b"/>
            <a:pathLst>
              <a:path h="5600700">
                <a:moveTo>
                  <a:pt x="0" y="0"/>
                </a:moveTo>
                <a:lnTo>
                  <a:pt x="0" y="5600699"/>
                </a:lnTo>
              </a:path>
            </a:pathLst>
          </a:custGeom>
          <a:ln w="25399">
            <a:solidFill>
              <a:srgbClr val="F4F4F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0289545" cy="685799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250312" y="5324637"/>
            <a:ext cx="1360805" cy="1360805"/>
          </a:xfrm>
          <a:custGeom>
            <a:avLst/>
            <a:gdLst/>
            <a:ahLst/>
            <a:cxnLst/>
            <a:rect l="l" t="t" r="r" b="b"/>
            <a:pathLst>
              <a:path w="1360805" h="1360804">
                <a:moveTo>
                  <a:pt x="680399" y="1360799"/>
                </a:moveTo>
                <a:lnTo>
                  <a:pt x="631808" y="1359091"/>
                </a:lnTo>
                <a:lnTo>
                  <a:pt x="584139" y="1354043"/>
                </a:lnTo>
                <a:lnTo>
                  <a:pt x="537507" y="1345770"/>
                </a:lnTo>
                <a:lnTo>
                  <a:pt x="492027" y="1334387"/>
                </a:lnTo>
                <a:lnTo>
                  <a:pt x="447815" y="1320009"/>
                </a:lnTo>
                <a:lnTo>
                  <a:pt x="404986" y="1302752"/>
                </a:lnTo>
                <a:lnTo>
                  <a:pt x="363654" y="1282731"/>
                </a:lnTo>
                <a:lnTo>
                  <a:pt x="323935" y="1260061"/>
                </a:lnTo>
                <a:lnTo>
                  <a:pt x="285945" y="1234857"/>
                </a:lnTo>
                <a:lnTo>
                  <a:pt x="249797" y="1207233"/>
                </a:lnTo>
                <a:lnTo>
                  <a:pt x="215608" y="1177306"/>
                </a:lnTo>
                <a:lnTo>
                  <a:pt x="183493" y="1145191"/>
                </a:lnTo>
                <a:lnTo>
                  <a:pt x="153566" y="1111002"/>
                </a:lnTo>
                <a:lnTo>
                  <a:pt x="125942" y="1074854"/>
                </a:lnTo>
                <a:lnTo>
                  <a:pt x="100738" y="1036864"/>
                </a:lnTo>
                <a:lnTo>
                  <a:pt x="78068" y="997145"/>
                </a:lnTo>
                <a:lnTo>
                  <a:pt x="58047" y="955813"/>
                </a:lnTo>
                <a:lnTo>
                  <a:pt x="40790" y="912984"/>
                </a:lnTo>
                <a:lnTo>
                  <a:pt x="26412" y="868772"/>
                </a:lnTo>
                <a:lnTo>
                  <a:pt x="15029" y="823292"/>
                </a:lnTo>
                <a:lnTo>
                  <a:pt x="6756" y="776660"/>
                </a:lnTo>
                <a:lnTo>
                  <a:pt x="1708" y="728991"/>
                </a:lnTo>
                <a:lnTo>
                  <a:pt x="0" y="680399"/>
                </a:lnTo>
                <a:lnTo>
                  <a:pt x="1708" y="631808"/>
                </a:lnTo>
                <a:lnTo>
                  <a:pt x="6756" y="584139"/>
                </a:lnTo>
                <a:lnTo>
                  <a:pt x="15029" y="537507"/>
                </a:lnTo>
                <a:lnTo>
                  <a:pt x="26412" y="492027"/>
                </a:lnTo>
                <a:lnTo>
                  <a:pt x="40790" y="447815"/>
                </a:lnTo>
                <a:lnTo>
                  <a:pt x="58047" y="404986"/>
                </a:lnTo>
                <a:lnTo>
                  <a:pt x="78068" y="363654"/>
                </a:lnTo>
                <a:lnTo>
                  <a:pt x="100738" y="323935"/>
                </a:lnTo>
                <a:lnTo>
                  <a:pt x="125942" y="285945"/>
                </a:lnTo>
                <a:lnTo>
                  <a:pt x="153566" y="249797"/>
                </a:lnTo>
                <a:lnTo>
                  <a:pt x="183493" y="215608"/>
                </a:lnTo>
                <a:lnTo>
                  <a:pt x="215608" y="183493"/>
                </a:lnTo>
                <a:lnTo>
                  <a:pt x="249797" y="153566"/>
                </a:lnTo>
                <a:lnTo>
                  <a:pt x="285945" y="125942"/>
                </a:lnTo>
                <a:lnTo>
                  <a:pt x="323935" y="100738"/>
                </a:lnTo>
                <a:lnTo>
                  <a:pt x="363654" y="78068"/>
                </a:lnTo>
                <a:lnTo>
                  <a:pt x="404986" y="58047"/>
                </a:lnTo>
                <a:lnTo>
                  <a:pt x="447815" y="40790"/>
                </a:lnTo>
                <a:lnTo>
                  <a:pt x="492027" y="26412"/>
                </a:lnTo>
                <a:lnTo>
                  <a:pt x="537507" y="15029"/>
                </a:lnTo>
                <a:lnTo>
                  <a:pt x="584139" y="6756"/>
                </a:lnTo>
                <a:lnTo>
                  <a:pt x="631808" y="1708"/>
                </a:lnTo>
                <a:lnTo>
                  <a:pt x="680399" y="0"/>
                </a:lnTo>
                <a:lnTo>
                  <a:pt x="727817" y="1708"/>
                </a:lnTo>
                <a:lnTo>
                  <a:pt x="728875" y="1708"/>
                </a:lnTo>
                <a:lnTo>
                  <a:pt x="777867" y="7014"/>
                </a:lnTo>
                <a:lnTo>
                  <a:pt x="825622" y="15675"/>
                </a:lnTo>
                <a:lnTo>
                  <a:pt x="872495" y="27678"/>
                </a:lnTo>
                <a:lnTo>
                  <a:pt x="918316" y="42951"/>
                </a:lnTo>
                <a:lnTo>
                  <a:pt x="962911" y="61423"/>
                </a:lnTo>
                <a:lnTo>
                  <a:pt x="1006111" y="83024"/>
                </a:lnTo>
                <a:lnTo>
                  <a:pt x="1047743" y="107681"/>
                </a:lnTo>
                <a:lnTo>
                  <a:pt x="1087635" y="135324"/>
                </a:lnTo>
                <a:lnTo>
                  <a:pt x="1125616" y="165882"/>
                </a:lnTo>
                <a:lnTo>
                  <a:pt x="1161515" y="199284"/>
                </a:lnTo>
                <a:lnTo>
                  <a:pt x="1194917" y="235183"/>
                </a:lnTo>
                <a:lnTo>
                  <a:pt x="1225475" y="273164"/>
                </a:lnTo>
                <a:lnTo>
                  <a:pt x="1253118" y="313056"/>
                </a:lnTo>
                <a:lnTo>
                  <a:pt x="1277775" y="354688"/>
                </a:lnTo>
                <a:lnTo>
                  <a:pt x="1299376" y="397888"/>
                </a:lnTo>
                <a:lnTo>
                  <a:pt x="1317848" y="442484"/>
                </a:lnTo>
                <a:lnTo>
                  <a:pt x="1333121" y="488304"/>
                </a:lnTo>
                <a:lnTo>
                  <a:pt x="1345124" y="535178"/>
                </a:lnTo>
                <a:lnTo>
                  <a:pt x="1353785" y="582932"/>
                </a:lnTo>
                <a:lnTo>
                  <a:pt x="1359034" y="631397"/>
                </a:lnTo>
                <a:lnTo>
                  <a:pt x="1360799" y="680399"/>
                </a:lnTo>
                <a:lnTo>
                  <a:pt x="1359091" y="728991"/>
                </a:lnTo>
                <a:lnTo>
                  <a:pt x="1354043" y="776660"/>
                </a:lnTo>
                <a:lnTo>
                  <a:pt x="1345770" y="823292"/>
                </a:lnTo>
                <a:lnTo>
                  <a:pt x="1334387" y="868772"/>
                </a:lnTo>
                <a:lnTo>
                  <a:pt x="1320009" y="912984"/>
                </a:lnTo>
                <a:lnTo>
                  <a:pt x="1302752" y="955813"/>
                </a:lnTo>
                <a:lnTo>
                  <a:pt x="1282731" y="997145"/>
                </a:lnTo>
                <a:lnTo>
                  <a:pt x="1260061" y="1036864"/>
                </a:lnTo>
                <a:lnTo>
                  <a:pt x="1234857" y="1074854"/>
                </a:lnTo>
                <a:lnTo>
                  <a:pt x="1207233" y="1111002"/>
                </a:lnTo>
                <a:lnTo>
                  <a:pt x="1177306" y="1145191"/>
                </a:lnTo>
                <a:lnTo>
                  <a:pt x="1145191" y="1177306"/>
                </a:lnTo>
                <a:lnTo>
                  <a:pt x="1111002" y="1207233"/>
                </a:lnTo>
                <a:lnTo>
                  <a:pt x="1074854" y="1234857"/>
                </a:lnTo>
                <a:lnTo>
                  <a:pt x="1036864" y="1260061"/>
                </a:lnTo>
                <a:lnTo>
                  <a:pt x="997145" y="1282731"/>
                </a:lnTo>
                <a:lnTo>
                  <a:pt x="955813" y="1302752"/>
                </a:lnTo>
                <a:lnTo>
                  <a:pt x="912984" y="1320009"/>
                </a:lnTo>
                <a:lnTo>
                  <a:pt x="868772" y="1334387"/>
                </a:lnTo>
                <a:lnTo>
                  <a:pt x="823292" y="1345770"/>
                </a:lnTo>
                <a:lnTo>
                  <a:pt x="776660" y="1354043"/>
                </a:lnTo>
                <a:lnTo>
                  <a:pt x="728991" y="1359091"/>
                </a:lnTo>
                <a:lnTo>
                  <a:pt x="680399" y="1360799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50312" y="5324637"/>
            <a:ext cx="1360805" cy="1360805"/>
          </a:xfrm>
          <a:custGeom>
            <a:avLst/>
            <a:gdLst/>
            <a:ahLst/>
            <a:cxnLst/>
            <a:rect l="l" t="t" r="r" b="b"/>
            <a:pathLst>
              <a:path w="1360805" h="1360804">
                <a:moveTo>
                  <a:pt x="0" y="680399"/>
                </a:moveTo>
                <a:lnTo>
                  <a:pt x="1708" y="631808"/>
                </a:lnTo>
                <a:lnTo>
                  <a:pt x="6756" y="584139"/>
                </a:lnTo>
                <a:lnTo>
                  <a:pt x="15029" y="537507"/>
                </a:lnTo>
                <a:lnTo>
                  <a:pt x="26412" y="492027"/>
                </a:lnTo>
                <a:lnTo>
                  <a:pt x="40790" y="447815"/>
                </a:lnTo>
                <a:lnTo>
                  <a:pt x="58047" y="404986"/>
                </a:lnTo>
                <a:lnTo>
                  <a:pt x="78068" y="363654"/>
                </a:lnTo>
                <a:lnTo>
                  <a:pt x="100738" y="323935"/>
                </a:lnTo>
                <a:lnTo>
                  <a:pt x="125942" y="285945"/>
                </a:lnTo>
                <a:lnTo>
                  <a:pt x="153566" y="249797"/>
                </a:lnTo>
                <a:lnTo>
                  <a:pt x="183493" y="215608"/>
                </a:lnTo>
                <a:lnTo>
                  <a:pt x="215608" y="183493"/>
                </a:lnTo>
                <a:lnTo>
                  <a:pt x="249797" y="153566"/>
                </a:lnTo>
                <a:lnTo>
                  <a:pt x="285945" y="125942"/>
                </a:lnTo>
                <a:lnTo>
                  <a:pt x="323935" y="100738"/>
                </a:lnTo>
                <a:lnTo>
                  <a:pt x="363654" y="78068"/>
                </a:lnTo>
                <a:lnTo>
                  <a:pt x="404986" y="58047"/>
                </a:lnTo>
                <a:lnTo>
                  <a:pt x="447815" y="40790"/>
                </a:lnTo>
                <a:lnTo>
                  <a:pt x="492027" y="26412"/>
                </a:lnTo>
                <a:lnTo>
                  <a:pt x="537507" y="15029"/>
                </a:lnTo>
                <a:lnTo>
                  <a:pt x="584139" y="6756"/>
                </a:lnTo>
                <a:lnTo>
                  <a:pt x="631808" y="1708"/>
                </a:lnTo>
                <a:lnTo>
                  <a:pt x="680399" y="0"/>
                </a:lnTo>
                <a:lnTo>
                  <a:pt x="729402" y="1765"/>
                </a:lnTo>
                <a:lnTo>
                  <a:pt x="777867" y="7014"/>
                </a:lnTo>
                <a:lnTo>
                  <a:pt x="825622" y="15675"/>
                </a:lnTo>
                <a:lnTo>
                  <a:pt x="872495" y="27678"/>
                </a:lnTo>
                <a:lnTo>
                  <a:pt x="918316" y="42951"/>
                </a:lnTo>
                <a:lnTo>
                  <a:pt x="962911" y="61423"/>
                </a:lnTo>
                <a:lnTo>
                  <a:pt x="1006111" y="83024"/>
                </a:lnTo>
                <a:lnTo>
                  <a:pt x="1047743" y="107681"/>
                </a:lnTo>
                <a:lnTo>
                  <a:pt x="1087635" y="135324"/>
                </a:lnTo>
                <a:lnTo>
                  <a:pt x="1125616" y="165882"/>
                </a:lnTo>
                <a:lnTo>
                  <a:pt x="1161515" y="199284"/>
                </a:lnTo>
                <a:lnTo>
                  <a:pt x="1194917" y="235183"/>
                </a:lnTo>
                <a:lnTo>
                  <a:pt x="1225475" y="273164"/>
                </a:lnTo>
                <a:lnTo>
                  <a:pt x="1253118" y="313056"/>
                </a:lnTo>
                <a:lnTo>
                  <a:pt x="1277775" y="354688"/>
                </a:lnTo>
                <a:lnTo>
                  <a:pt x="1299376" y="397888"/>
                </a:lnTo>
                <a:lnTo>
                  <a:pt x="1317848" y="442484"/>
                </a:lnTo>
                <a:lnTo>
                  <a:pt x="1333121" y="488304"/>
                </a:lnTo>
                <a:lnTo>
                  <a:pt x="1345124" y="535178"/>
                </a:lnTo>
                <a:lnTo>
                  <a:pt x="1353785" y="582932"/>
                </a:lnTo>
                <a:lnTo>
                  <a:pt x="1359034" y="631397"/>
                </a:lnTo>
                <a:lnTo>
                  <a:pt x="1360799" y="680399"/>
                </a:lnTo>
                <a:lnTo>
                  <a:pt x="1359091" y="728991"/>
                </a:lnTo>
                <a:lnTo>
                  <a:pt x="1354043" y="776660"/>
                </a:lnTo>
                <a:lnTo>
                  <a:pt x="1345770" y="823292"/>
                </a:lnTo>
                <a:lnTo>
                  <a:pt x="1334387" y="868772"/>
                </a:lnTo>
                <a:lnTo>
                  <a:pt x="1320009" y="912984"/>
                </a:lnTo>
                <a:lnTo>
                  <a:pt x="1302752" y="955813"/>
                </a:lnTo>
                <a:lnTo>
                  <a:pt x="1282731" y="997145"/>
                </a:lnTo>
                <a:lnTo>
                  <a:pt x="1260061" y="1036864"/>
                </a:lnTo>
                <a:lnTo>
                  <a:pt x="1234857" y="1074854"/>
                </a:lnTo>
                <a:lnTo>
                  <a:pt x="1207233" y="1111002"/>
                </a:lnTo>
                <a:lnTo>
                  <a:pt x="1177306" y="1145191"/>
                </a:lnTo>
                <a:lnTo>
                  <a:pt x="1145191" y="1177306"/>
                </a:lnTo>
                <a:lnTo>
                  <a:pt x="1111002" y="1207233"/>
                </a:lnTo>
                <a:lnTo>
                  <a:pt x="1074854" y="1234857"/>
                </a:lnTo>
                <a:lnTo>
                  <a:pt x="1036864" y="1260061"/>
                </a:lnTo>
                <a:lnTo>
                  <a:pt x="997145" y="1282731"/>
                </a:lnTo>
                <a:lnTo>
                  <a:pt x="955813" y="1302752"/>
                </a:lnTo>
                <a:lnTo>
                  <a:pt x="912984" y="1320009"/>
                </a:lnTo>
                <a:lnTo>
                  <a:pt x="868772" y="1334387"/>
                </a:lnTo>
                <a:lnTo>
                  <a:pt x="823292" y="1345770"/>
                </a:lnTo>
                <a:lnTo>
                  <a:pt x="776660" y="1354043"/>
                </a:lnTo>
                <a:lnTo>
                  <a:pt x="728991" y="1359091"/>
                </a:lnTo>
                <a:lnTo>
                  <a:pt x="680399" y="1360799"/>
                </a:lnTo>
                <a:lnTo>
                  <a:pt x="631808" y="1359091"/>
                </a:lnTo>
                <a:lnTo>
                  <a:pt x="584139" y="1354043"/>
                </a:lnTo>
                <a:lnTo>
                  <a:pt x="537507" y="1345770"/>
                </a:lnTo>
                <a:lnTo>
                  <a:pt x="492027" y="1334387"/>
                </a:lnTo>
                <a:lnTo>
                  <a:pt x="447815" y="1320009"/>
                </a:lnTo>
                <a:lnTo>
                  <a:pt x="404986" y="1302752"/>
                </a:lnTo>
                <a:lnTo>
                  <a:pt x="363654" y="1282731"/>
                </a:lnTo>
                <a:lnTo>
                  <a:pt x="323935" y="1260061"/>
                </a:lnTo>
                <a:lnTo>
                  <a:pt x="285945" y="1234857"/>
                </a:lnTo>
                <a:lnTo>
                  <a:pt x="249797" y="1207233"/>
                </a:lnTo>
                <a:lnTo>
                  <a:pt x="215608" y="1177306"/>
                </a:lnTo>
                <a:lnTo>
                  <a:pt x="183493" y="1145191"/>
                </a:lnTo>
                <a:lnTo>
                  <a:pt x="153566" y="1111002"/>
                </a:lnTo>
                <a:lnTo>
                  <a:pt x="125942" y="1074854"/>
                </a:lnTo>
                <a:lnTo>
                  <a:pt x="100738" y="1036864"/>
                </a:lnTo>
                <a:lnTo>
                  <a:pt x="78068" y="997145"/>
                </a:lnTo>
                <a:lnTo>
                  <a:pt x="58047" y="955813"/>
                </a:lnTo>
                <a:lnTo>
                  <a:pt x="40790" y="912984"/>
                </a:lnTo>
                <a:lnTo>
                  <a:pt x="26412" y="868772"/>
                </a:lnTo>
                <a:lnTo>
                  <a:pt x="15029" y="823292"/>
                </a:lnTo>
                <a:lnTo>
                  <a:pt x="6756" y="776660"/>
                </a:lnTo>
                <a:lnTo>
                  <a:pt x="1708" y="728991"/>
                </a:lnTo>
                <a:lnTo>
                  <a:pt x="0" y="680399"/>
                </a:lnTo>
                <a:close/>
              </a:path>
            </a:pathLst>
          </a:custGeom>
          <a:ln w="9524">
            <a:solidFill>
              <a:srgbClr val="1C1A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FF99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C1A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784011" y="1189203"/>
            <a:ext cx="408305" cy="819150"/>
          </a:xfrm>
          <a:custGeom>
            <a:avLst/>
            <a:gdLst/>
            <a:ahLst/>
            <a:cxnLst/>
            <a:rect l="l" t="t" r="r" b="b"/>
            <a:pathLst>
              <a:path w="408304" h="819150">
                <a:moveTo>
                  <a:pt x="407988" y="819149"/>
                </a:moveTo>
                <a:lnTo>
                  <a:pt x="356960" y="815974"/>
                </a:lnTo>
                <a:lnTo>
                  <a:pt x="307748" y="806676"/>
                </a:lnTo>
                <a:lnTo>
                  <a:pt x="260803" y="791482"/>
                </a:lnTo>
                <a:lnTo>
                  <a:pt x="216127" y="771298"/>
                </a:lnTo>
                <a:lnTo>
                  <a:pt x="174852" y="745898"/>
                </a:lnTo>
                <a:lnTo>
                  <a:pt x="136978" y="715735"/>
                </a:lnTo>
                <a:lnTo>
                  <a:pt x="102960" y="681491"/>
                </a:lnTo>
                <a:lnTo>
                  <a:pt x="73251" y="643617"/>
                </a:lnTo>
                <a:lnTo>
                  <a:pt x="47851" y="602116"/>
                </a:lnTo>
                <a:lnTo>
                  <a:pt x="27441" y="557666"/>
                </a:lnTo>
                <a:lnTo>
                  <a:pt x="12473" y="510494"/>
                </a:lnTo>
                <a:lnTo>
                  <a:pt x="3174" y="461055"/>
                </a:lnTo>
                <a:lnTo>
                  <a:pt x="0" y="409574"/>
                </a:lnTo>
                <a:lnTo>
                  <a:pt x="906" y="383721"/>
                </a:lnTo>
                <a:lnTo>
                  <a:pt x="7256" y="333148"/>
                </a:lnTo>
                <a:lnTo>
                  <a:pt x="19276" y="284842"/>
                </a:lnTo>
                <a:lnTo>
                  <a:pt x="36966" y="239032"/>
                </a:lnTo>
                <a:lnTo>
                  <a:pt x="60098" y="195942"/>
                </a:lnTo>
                <a:lnTo>
                  <a:pt x="87539" y="156255"/>
                </a:lnTo>
                <a:lnTo>
                  <a:pt x="119516" y="119969"/>
                </a:lnTo>
                <a:lnTo>
                  <a:pt x="155574" y="87992"/>
                </a:lnTo>
                <a:lnTo>
                  <a:pt x="195035" y="60324"/>
                </a:lnTo>
                <a:lnTo>
                  <a:pt x="238124" y="37192"/>
                </a:lnTo>
                <a:lnTo>
                  <a:pt x="283708" y="19276"/>
                </a:lnTo>
                <a:lnTo>
                  <a:pt x="332014" y="7257"/>
                </a:lnTo>
                <a:lnTo>
                  <a:pt x="382360" y="1133"/>
                </a:lnTo>
                <a:lnTo>
                  <a:pt x="407988" y="0"/>
                </a:lnTo>
                <a:lnTo>
                  <a:pt x="407988" y="819149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73854" y="1257300"/>
            <a:ext cx="0" cy="5600700"/>
          </a:xfrm>
          <a:custGeom>
            <a:avLst/>
            <a:gdLst/>
            <a:ahLst/>
            <a:cxnLst/>
            <a:rect l="l" t="t" r="r" b="b"/>
            <a:pathLst>
              <a:path h="5600700">
                <a:moveTo>
                  <a:pt x="0" y="0"/>
                </a:moveTo>
                <a:lnTo>
                  <a:pt x="0" y="5600699"/>
                </a:lnTo>
              </a:path>
            </a:pathLst>
          </a:custGeom>
          <a:ln w="25399">
            <a:solidFill>
              <a:srgbClr val="F4F4F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98400" y="443791"/>
            <a:ext cx="4991734" cy="4686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FF99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20400" y="1320165"/>
            <a:ext cx="8650605" cy="2453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FFF1C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26725" y="2614724"/>
            <a:ext cx="5672455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000" b="0" spc="-75" dirty="0">
                <a:solidFill>
                  <a:srgbClr val="FFFFFF"/>
                </a:solidFill>
                <a:latin typeface="Arial Black"/>
                <a:cs typeface="Arial Black"/>
              </a:rPr>
              <a:t>Consumer</a:t>
            </a:r>
            <a:r>
              <a:rPr sz="5000" b="0" spc="-5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5000" b="0" spc="-170" dirty="0">
                <a:solidFill>
                  <a:srgbClr val="FFFFFF"/>
                </a:solidFill>
                <a:latin typeface="Arial Black"/>
                <a:cs typeface="Arial Black"/>
              </a:rPr>
              <a:t>Goods </a:t>
            </a:r>
            <a:r>
              <a:rPr sz="5000" b="0" dirty="0">
                <a:solidFill>
                  <a:srgbClr val="FFFFFF"/>
                </a:solidFill>
                <a:latin typeface="Arial Black"/>
                <a:cs typeface="Arial Black"/>
              </a:rPr>
              <a:t>Ad_Hoc</a:t>
            </a:r>
            <a:r>
              <a:rPr sz="5000" b="0" spc="-4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5000" b="0" spc="-35" dirty="0">
                <a:solidFill>
                  <a:srgbClr val="FFFFFF"/>
                </a:solidFill>
                <a:latin typeface="Arial Black"/>
                <a:cs typeface="Arial Black"/>
              </a:rPr>
              <a:t>Insights</a:t>
            </a:r>
            <a:endParaRPr sz="50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27399" y="5221151"/>
            <a:ext cx="11522710" cy="1464310"/>
            <a:chOff x="427399" y="5221151"/>
            <a:chExt cx="11522710" cy="14643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7399" y="5512538"/>
              <a:ext cx="1006673" cy="9850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85614" y="5221151"/>
              <a:ext cx="1464249" cy="14642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047917-94E0-EE83-BDC6-7F79382572A8}"/>
              </a:ext>
            </a:extLst>
          </p:cNvPr>
          <p:cNvSpPr txBox="1"/>
          <p:nvPr/>
        </p:nvSpPr>
        <p:spPr>
          <a:xfrm>
            <a:off x="457200" y="-48875"/>
            <a:ext cx="11506200" cy="695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                                      </a:t>
            </a:r>
            <a:r>
              <a:rPr lang="en-US" sz="2800" b="1" u="sng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Project Overview</a:t>
            </a:r>
          </a:p>
          <a:p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</a:rPr>
              <a:t>Project Title</a:t>
            </a:r>
            <a:b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1600" b="1" dirty="0">
                <a:solidFill>
                  <a:schemeClr val="bg1"/>
                </a:solidFill>
                <a:latin typeface="+mn-lt"/>
              </a:rPr>
              <a:t>Consumer Goods Sales Analysis – Ad Hoc Business Requests.</a:t>
            </a:r>
            <a:br>
              <a:rPr lang="en-US" sz="1600" b="1" dirty="0">
                <a:solidFill>
                  <a:schemeClr val="bg1"/>
                </a:solidFill>
                <a:latin typeface="+mn-lt"/>
              </a:rPr>
            </a:br>
            <a:endParaRPr lang="en-US" b="1" dirty="0">
              <a:solidFill>
                <a:schemeClr val="bg1"/>
              </a:solidFill>
              <a:latin typeface="+mn-lt"/>
            </a:endParaRPr>
          </a:p>
          <a:p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</a:rPr>
              <a:t>Objective</a:t>
            </a:r>
            <a:br>
              <a:rPr lang="en-US" sz="2000" dirty="0"/>
            </a:br>
            <a:r>
              <a:rPr lang="en-US" sz="1600" b="1" dirty="0">
                <a:solidFill>
                  <a:schemeClr val="bg1"/>
                </a:solidFill>
                <a:latin typeface="+mn-lt"/>
              </a:rPr>
              <a:t>Analyze the consumer goods dataset using SQL to solve business ad-hoc requests and extract meaningful insights related to products, customers, and sales performance.</a:t>
            </a:r>
          </a:p>
          <a:p>
            <a:endParaRPr lang="en-US" sz="2000" b="1" u="sng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</a:rPr>
              <a:t>Dataset</a:t>
            </a:r>
            <a:b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1600" b="1" dirty="0">
                <a:solidFill>
                  <a:schemeClr val="bg1"/>
                </a:solidFill>
                <a:latin typeface="+mn-lt"/>
              </a:rPr>
              <a:t>Consumer Goods Sales dataset containing product, customer, sales, and pricing data across multiple markets and fiscal years.</a:t>
            </a:r>
            <a:endParaRPr lang="en-US" b="1" dirty="0">
              <a:solidFill>
                <a:schemeClr val="bg1"/>
              </a:solidFill>
              <a:latin typeface="+mn-lt"/>
            </a:endParaRPr>
          </a:p>
          <a:p>
            <a:endParaRPr lang="en-US" sz="2000" b="1" u="sng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</a:rPr>
              <a:t>Tools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MySQL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Excel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PowerPoint </a:t>
            </a:r>
          </a:p>
          <a:p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</a:rPr>
              <a:t>Key Analysis Areas</a:t>
            </a:r>
          </a:p>
          <a:p>
            <a:r>
              <a:rPr lang="en-US" sz="1600" b="1" dirty="0">
                <a:solidFill>
                  <a:schemeClr val="bg1"/>
                </a:solidFill>
                <a:latin typeface="+mn-lt"/>
              </a:rPr>
              <a:t>Product growth analysis </a:t>
            </a:r>
          </a:p>
          <a:p>
            <a:r>
              <a:rPr lang="en-US" sz="1600" b="1" dirty="0">
                <a:solidFill>
                  <a:schemeClr val="bg1"/>
                </a:solidFill>
                <a:latin typeface="+mn-lt"/>
              </a:rPr>
              <a:t>Customer discount analysis </a:t>
            </a:r>
          </a:p>
          <a:p>
            <a:r>
              <a:rPr lang="en-US" sz="1600" b="1" dirty="0">
                <a:solidFill>
                  <a:schemeClr val="bg1"/>
                </a:solidFill>
                <a:latin typeface="+mn-lt"/>
              </a:rPr>
              <a:t>Sales trends (monthly &amp; quarterly) </a:t>
            </a:r>
          </a:p>
          <a:p>
            <a:r>
              <a:rPr lang="en-US" sz="1600" b="1" dirty="0">
                <a:solidFill>
                  <a:schemeClr val="bg1"/>
                </a:solidFill>
                <a:latin typeface="+mn-lt"/>
              </a:rPr>
              <a:t>Channel contribution </a:t>
            </a:r>
          </a:p>
          <a:p>
            <a:r>
              <a:rPr lang="en-US" sz="1600" b="1" dirty="0">
                <a:solidFill>
                  <a:schemeClr val="bg1"/>
                </a:solidFill>
                <a:latin typeface="+mn-lt"/>
              </a:rPr>
              <a:t>Top performing products </a:t>
            </a:r>
          </a:p>
          <a:p>
            <a:br>
              <a:rPr lang="en-US" sz="1400" b="1" u="sng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US" b="1" u="sng" dirty="0">
                <a:solidFill>
                  <a:srgbClr val="7030A0"/>
                </a:solidFill>
              </a:rPr>
              <a:t>Total Ad-Hoc Requests Solved</a:t>
            </a:r>
            <a:br>
              <a:rPr lang="en-US" sz="2000" dirty="0"/>
            </a:br>
            <a:r>
              <a:rPr lang="en-US" sz="1400" b="1" dirty="0">
                <a:solidFill>
                  <a:schemeClr val="bg1"/>
                </a:solidFill>
                <a:latin typeface="+mn-lt"/>
              </a:rPr>
              <a:t>10 Business Questions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6456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34EF11-50E9-E7AD-0A3A-727BC7D1AA3A}"/>
              </a:ext>
            </a:extLst>
          </p:cNvPr>
          <p:cNvSpPr txBox="1"/>
          <p:nvPr/>
        </p:nvSpPr>
        <p:spPr>
          <a:xfrm>
            <a:off x="1219200" y="381000"/>
            <a:ext cx="1005840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accent6">
                    <a:lumMod val="75000"/>
                  </a:schemeClr>
                </a:solidFill>
              </a:rPr>
              <a:t>Dataset Structure</a:t>
            </a:r>
          </a:p>
          <a:p>
            <a:endParaRPr lang="en-US" dirty="0"/>
          </a:p>
          <a:p>
            <a:r>
              <a:rPr lang="en-US" sz="2400" b="1" u="sng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Dimension Tables</a:t>
            </a:r>
          </a:p>
          <a:p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• </a:t>
            </a:r>
            <a:r>
              <a:rPr lang="en-US" sz="20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dim_customer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–  </a:t>
            </a:r>
            <a:r>
              <a:rPr lang="en-US" sz="2000" b="1" dirty="0">
                <a:solidFill>
                  <a:schemeClr val="bg1"/>
                </a:solidFill>
                <a:latin typeface="+mn-lt"/>
              </a:rPr>
              <a:t>C</a:t>
            </a:r>
            <a:r>
              <a:rPr lang="en-US" b="1" dirty="0">
                <a:solidFill>
                  <a:schemeClr val="bg1"/>
                </a:solidFill>
              </a:rPr>
              <a:t>ustomer details</a:t>
            </a:r>
          </a:p>
          <a:p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• dim_product –  </a:t>
            </a:r>
            <a:r>
              <a:rPr lang="en-US" sz="2000" b="1" dirty="0">
                <a:solidFill>
                  <a:schemeClr val="bg1"/>
                </a:solidFill>
                <a:latin typeface="+mn-lt"/>
              </a:rPr>
              <a:t>P</a:t>
            </a:r>
            <a:r>
              <a:rPr lang="en-US" b="1" dirty="0">
                <a:solidFill>
                  <a:schemeClr val="bg1"/>
                </a:solidFill>
              </a:rPr>
              <a:t>roduct information</a:t>
            </a:r>
          </a:p>
          <a:p>
            <a:endParaRPr lang="en-US" dirty="0"/>
          </a:p>
          <a:p>
            <a:r>
              <a:rPr lang="en-US" sz="2400" b="1" u="sng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Fact Tables</a:t>
            </a:r>
          </a:p>
          <a:p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• </a:t>
            </a:r>
            <a:r>
              <a:rPr lang="en-US" sz="20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fact_sales_monthly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–  </a:t>
            </a:r>
            <a:r>
              <a:rPr lang="en-US" sz="2000" b="1" dirty="0">
                <a:solidFill>
                  <a:schemeClr val="bg1"/>
                </a:solidFill>
                <a:latin typeface="+mn-lt"/>
              </a:rPr>
              <a:t>M</a:t>
            </a:r>
            <a:r>
              <a:rPr lang="en-US" b="1" dirty="0">
                <a:solidFill>
                  <a:schemeClr val="bg1"/>
                </a:solidFill>
              </a:rPr>
              <a:t>onthly sales transactions</a:t>
            </a:r>
          </a:p>
          <a:p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• fact_gross_price –  </a:t>
            </a:r>
            <a:r>
              <a:rPr lang="en-US" sz="2000" b="1" dirty="0">
                <a:solidFill>
                  <a:schemeClr val="bg1"/>
                </a:solidFill>
                <a:latin typeface="+mn-lt"/>
              </a:rPr>
              <a:t>P</a:t>
            </a:r>
            <a:r>
              <a:rPr lang="en-US" b="1" dirty="0">
                <a:solidFill>
                  <a:schemeClr val="bg1"/>
                </a:solidFill>
              </a:rPr>
              <a:t>roduct pricing</a:t>
            </a:r>
          </a:p>
          <a:p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• </a:t>
            </a:r>
            <a:r>
              <a:rPr lang="en-US" sz="20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fact_manufacturing_cost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–  </a:t>
            </a:r>
            <a:r>
              <a:rPr lang="en-US" sz="2000" b="1" dirty="0">
                <a:solidFill>
                  <a:schemeClr val="bg1"/>
                </a:solidFill>
                <a:latin typeface="+mn-lt"/>
              </a:rPr>
              <a:t>M</a:t>
            </a:r>
            <a:r>
              <a:rPr lang="en-US" b="1" dirty="0">
                <a:solidFill>
                  <a:schemeClr val="bg1"/>
                </a:solidFill>
              </a:rPr>
              <a:t>anufacturing cost</a:t>
            </a:r>
          </a:p>
          <a:p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• </a:t>
            </a:r>
            <a:r>
              <a:rPr lang="en-US" sz="2000" b="1" dirty="0" err="1">
                <a:solidFill>
                  <a:schemeClr val="accent4">
                    <a:lumMod val="75000"/>
                  </a:schemeClr>
                </a:solidFill>
                <a:latin typeface="+mn-lt"/>
              </a:rPr>
              <a:t>fact_pre_invoice_deductions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 –  </a:t>
            </a:r>
            <a:r>
              <a:rPr lang="en-US" sz="2000" b="1" dirty="0">
                <a:solidFill>
                  <a:schemeClr val="bg1"/>
                </a:solidFill>
                <a:latin typeface="+mn-lt"/>
              </a:rPr>
              <a:t>C</a:t>
            </a:r>
            <a:r>
              <a:rPr lang="en-US" b="1" dirty="0">
                <a:solidFill>
                  <a:schemeClr val="bg1"/>
                </a:solidFill>
              </a:rPr>
              <a:t>ustomer discounts</a:t>
            </a:r>
          </a:p>
          <a:p>
            <a:endParaRPr lang="en-US" dirty="0"/>
          </a:p>
          <a:p>
            <a:r>
              <a:rPr lang="en-US" sz="2400" b="1" u="sng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Data Model</a:t>
            </a:r>
          </a:p>
          <a:p>
            <a:r>
              <a:rPr lang="en-US" b="1" dirty="0">
                <a:solidFill>
                  <a:schemeClr val="bg1"/>
                </a:solidFill>
              </a:rPr>
              <a:t>Star Schema (dimension tables connected with fact tables)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914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30" dirty="0"/>
              <a:t>Yearly</a:t>
            </a:r>
            <a:r>
              <a:rPr sz="2600" spc="-60" dirty="0"/>
              <a:t> </a:t>
            </a:r>
            <a:r>
              <a:rPr sz="2600" dirty="0"/>
              <a:t>report</a:t>
            </a:r>
            <a:r>
              <a:rPr sz="2600" spc="-60" dirty="0"/>
              <a:t> </a:t>
            </a:r>
            <a:r>
              <a:rPr sz="2600" dirty="0"/>
              <a:t>for</a:t>
            </a:r>
            <a:r>
              <a:rPr sz="2600" spc="-105" dirty="0"/>
              <a:t> </a:t>
            </a:r>
            <a:r>
              <a:rPr sz="2600" dirty="0">
                <a:solidFill>
                  <a:srgbClr val="29CCF9"/>
                </a:solidFill>
              </a:rPr>
              <a:t>‘croma’</a:t>
            </a:r>
            <a:r>
              <a:rPr sz="2600" spc="-55" dirty="0">
                <a:solidFill>
                  <a:srgbClr val="29CCF9"/>
                </a:solidFill>
              </a:rPr>
              <a:t> </a:t>
            </a:r>
            <a:r>
              <a:rPr sz="2600" spc="-10" dirty="0"/>
              <a:t>customer</a:t>
            </a:r>
            <a:endParaRPr sz="2600"/>
          </a:p>
        </p:txBody>
      </p:sp>
      <p:sp>
        <p:nvSpPr>
          <p:cNvPr id="7" name="object 7"/>
          <p:cNvSpPr txBox="1"/>
          <p:nvPr/>
        </p:nvSpPr>
        <p:spPr>
          <a:xfrm>
            <a:off x="1420400" y="1320165"/>
            <a:ext cx="8540750" cy="19620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F1CC"/>
                </a:solidFill>
                <a:latin typeface="Arial Black"/>
                <a:cs typeface="Arial Black"/>
              </a:rPr>
              <a:t>Question</a:t>
            </a:r>
            <a:endParaRPr sz="200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r>
              <a:rPr lang="en-US" sz="2000" b="1" dirty="0">
                <a:solidFill>
                  <a:schemeClr val="bg1"/>
                </a:solidFill>
              </a:rPr>
              <a:t>1. Provide the list of markets in which customer "</a:t>
            </a:r>
            <a:r>
              <a:rPr lang="en-US" sz="2000" b="1" dirty="0" err="1">
                <a:solidFill>
                  <a:schemeClr val="bg1"/>
                </a:solidFill>
              </a:rPr>
              <a:t>Atliq</a:t>
            </a:r>
            <a:r>
              <a:rPr lang="en-US" sz="2000" b="1" dirty="0">
                <a:solidFill>
                  <a:schemeClr val="bg1"/>
                </a:solidFill>
              </a:rPr>
              <a:t> Exclusive" operates its business in the APAC region.</a:t>
            </a:r>
            <a:endParaRPr sz="2000" b="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br>
              <a:rPr lang="en-US" sz="2000" spc="-10" dirty="0">
                <a:solidFill>
                  <a:srgbClr val="FFF1CC"/>
                </a:solidFill>
                <a:latin typeface="Arial Black"/>
                <a:cs typeface="Arial Black"/>
              </a:rPr>
            </a:br>
            <a:br>
              <a:rPr lang="en-US" sz="2000" spc="-10" dirty="0">
                <a:solidFill>
                  <a:srgbClr val="FFF1CC"/>
                </a:solidFill>
                <a:latin typeface="Arial Black"/>
                <a:cs typeface="Arial Black"/>
              </a:rPr>
            </a:br>
            <a:r>
              <a:rPr sz="2000" spc="-10" dirty="0">
                <a:solidFill>
                  <a:srgbClr val="FFF1CC"/>
                </a:solidFill>
                <a:latin typeface="Arial Black"/>
                <a:cs typeface="Arial Black"/>
              </a:rPr>
              <a:t>Output</a:t>
            </a:r>
            <a:endParaRPr sz="2000" dirty="0">
              <a:latin typeface="Arial Black"/>
              <a:cs typeface="Arial Black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E13D57-F1FC-A091-AFF6-895360DB1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538889"/>
            <a:ext cx="1676399" cy="27660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1447800" y="990600"/>
            <a:ext cx="8650605" cy="18492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Question</a:t>
            </a:r>
            <a:r>
              <a:rPr lang="en-US" spc="-10" dirty="0"/>
              <a:t> No. 2</a:t>
            </a:r>
            <a:endParaRPr spc="-10" dirty="0"/>
          </a:p>
          <a:p>
            <a:pPr marL="400050" marR="5080">
              <a:lnSpc>
                <a:spcPct val="100000"/>
              </a:lnSpc>
              <a:spcBef>
                <a:spcPts val="2815"/>
              </a:spcBef>
            </a:pPr>
            <a:r>
              <a:rPr lang="en-US" sz="1800" dirty="0">
                <a:solidFill>
                  <a:schemeClr val="bg1"/>
                </a:solidFill>
                <a:latin typeface="+mj-lt"/>
              </a:rPr>
              <a:t>2. What is the percentage of unique product increase in 2021 vs. 2020? The final output contains these fields, unique_products_2020 unique_products_2021 </a:t>
            </a:r>
            <a:r>
              <a:rPr lang="en-US" sz="1800" dirty="0" err="1">
                <a:solidFill>
                  <a:schemeClr val="bg1"/>
                </a:solidFill>
                <a:latin typeface="+mj-lt"/>
              </a:rPr>
              <a:t>percentage_chg</a:t>
            </a:r>
            <a:r>
              <a:rPr lang="en-US" sz="1800" dirty="0">
                <a:solidFill>
                  <a:schemeClr val="bg1"/>
                </a:solidFill>
                <a:latin typeface="+mj-lt"/>
              </a:rPr>
              <a:t> </a:t>
            </a:r>
            <a:endParaRPr sz="1800" dirty="0">
              <a:solidFill>
                <a:schemeClr val="bg1"/>
              </a:solidFill>
              <a:latin typeface="+mj-lt"/>
              <a:cs typeface="Lucida Sans Unicode"/>
            </a:endParaRPr>
          </a:p>
          <a:p>
            <a:pPr marL="93980">
              <a:lnSpc>
                <a:spcPct val="100000"/>
              </a:lnSpc>
            </a:pPr>
            <a:br>
              <a:rPr lang="en-US" spc="-10" dirty="0"/>
            </a:br>
            <a:r>
              <a:rPr spc="-10" dirty="0"/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B261FA-7D53-DABF-58D0-A6E1E1104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3048000"/>
            <a:ext cx="6937109" cy="10934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D2443-AE57-1FF8-9850-A1FE856CC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389746BC-000C-C5A9-411D-8E1B1190E3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47800" y="990600"/>
            <a:ext cx="8650605" cy="209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Q</a:t>
            </a:r>
            <a:r>
              <a:rPr spc="-10" dirty="0" err="1"/>
              <a:t>uestion</a:t>
            </a:r>
            <a:r>
              <a:rPr lang="en-US" spc="-10" dirty="0"/>
              <a:t> No. 3</a:t>
            </a:r>
            <a:endParaRPr spc="-10" dirty="0"/>
          </a:p>
          <a:p>
            <a:pPr marL="400050" marR="5080">
              <a:lnSpc>
                <a:spcPct val="100000"/>
              </a:lnSpc>
              <a:spcBef>
                <a:spcPts val="2815"/>
              </a:spcBef>
            </a:pPr>
            <a:r>
              <a:rPr lang="en-US" sz="1800" dirty="0">
                <a:solidFill>
                  <a:schemeClr val="bg1"/>
                </a:solidFill>
                <a:latin typeface="+mj-lt"/>
              </a:rPr>
              <a:t>3. Provide a report with all the unique product counts for each segment and sort them in descending order of product counts. The final output contains 2 fields, segment </a:t>
            </a:r>
            <a:r>
              <a:rPr lang="en-US" sz="1800" dirty="0" err="1">
                <a:solidFill>
                  <a:schemeClr val="bg1"/>
                </a:solidFill>
                <a:latin typeface="+mj-lt"/>
              </a:rPr>
              <a:t>product_count</a:t>
            </a:r>
            <a:r>
              <a:rPr lang="en-US" sz="1800" dirty="0">
                <a:solidFill>
                  <a:schemeClr val="bg1"/>
                </a:solidFill>
                <a:latin typeface="+mj-lt"/>
              </a:rPr>
              <a:t> </a:t>
            </a:r>
            <a:br>
              <a:rPr lang="en-US" sz="1800" spc="-10" dirty="0">
                <a:solidFill>
                  <a:schemeClr val="bg1"/>
                </a:solidFill>
                <a:latin typeface="+mj-lt"/>
              </a:rPr>
            </a:br>
            <a:br>
              <a:rPr lang="en-US" sz="1800" spc="-10" dirty="0">
                <a:solidFill>
                  <a:schemeClr val="bg1"/>
                </a:solidFill>
                <a:latin typeface="+mj-lt"/>
              </a:rPr>
            </a:br>
            <a:r>
              <a:rPr spc="-10" dirty="0"/>
              <a:t>Output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B014D2-B6B1-CAA0-7A15-A6B844FE4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3200400"/>
            <a:ext cx="3581400" cy="275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234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A68DC-214E-7CB2-191D-60B71FD11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1E3B69D4-2462-EDFB-5BA5-CB1EC28F13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47800" y="762000"/>
            <a:ext cx="8650605" cy="2177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Question</a:t>
            </a:r>
            <a:r>
              <a:rPr lang="en-US" spc="-10" dirty="0"/>
              <a:t> No. 4</a:t>
            </a:r>
            <a:endParaRPr spc="-10" dirty="0"/>
          </a:p>
          <a:p>
            <a:pPr marL="400050" marR="5080">
              <a:lnSpc>
                <a:spcPct val="100000"/>
              </a:lnSpc>
              <a:spcBef>
                <a:spcPts val="2815"/>
              </a:spcBef>
            </a:pPr>
            <a:r>
              <a:rPr lang="en-US" sz="1800" dirty="0">
                <a:solidFill>
                  <a:schemeClr val="bg1"/>
                </a:solidFill>
                <a:latin typeface="+mj-lt"/>
              </a:rPr>
              <a:t>4. Follow-up: Which segment had the most increase in unique products in 2021 vs 2020? The final output contains these fields, segment product_count_2020 product_count_2021 difference</a:t>
            </a:r>
          </a:p>
          <a:p>
            <a:pPr marL="400050" marR="5080">
              <a:lnSpc>
                <a:spcPct val="100000"/>
              </a:lnSpc>
              <a:spcBef>
                <a:spcPts val="2815"/>
              </a:spcBef>
            </a:pPr>
            <a:r>
              <a:rPr spc="-10" dirty="0"/>
              <a:t>Output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E66756-1104-0C14-08DC-32FB0479F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124200"/>
            <a:ext cx="857455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46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A8EE4-DC36-D2EC-ACF5-AEFA18787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A67258D6-23EC-0CFA-4A6F-FF577729A1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47800" y="762000"/>
            <a:ext cx="8650605" cy="18184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Question</a:t>
            </a:r>
            <a:r>
              <a:rPr lang="en-US" spc="-10" dirty="0"/>
              <a:t> No. 5</a:t>
            </a:r>
            <a:endParaRPr spc="-10" dirty="0"/>
          </a:p>
          <a:p>
            <a:pPr marL="400050" marR="5080">
              <a:lnSpc>
                <a:spcPct val="100000"/>
              </a:lnSpc>
              <a:spcBef>
                <a:spcPts val="2815"/>
              </a:spcBef>
            </a:pPr>
            <a:r>
              <a:rPr lang="en-US" sz="1800" dirty="0">
                <a:solidFill>
                  <a:schemeClr val="bg1"/>
                </a:solidFill>
                <a:latin typeface="+mj-lt"/>
              </a:rPr>
              <a:t>5. Get the products that have the highest and lowest manufacturing costs. The final output should contain these fields, </a:t>
            </a:r>
            <a:r>
              <a:rPr lang="en-US" sz="1800" dirty="0" err="1">
                <a:solidFill>
                  <a:schemeClr val="bg1"/>
                </a:solidFill>
                <a:latin typeface="+mj-lt"/>
              </a:rPr>
              <a:t>product_code</a:t>
            </a:r>
            <a:r>
              <a:rPr lang="en-US" sz="1800" dirty="0">
                <a:solidFill>
                  <a:schemeClr val="bg1"/>
                </a:solidFill>
                <a:latin typeface="+mj-lt"/>
              </a:rPr>
              <a:t> product </a:t>
            </a:r>
            <a:r>
              <a:rPr lang="en-US" sz="1800" dirty="0" err="1">
                <a:solidFill>
                  <a:schemeClr val="bg1"/>
                </a:solidFill>
                <a:latin typeface="+mj-lt"/>
              </a:rPr>
              <a:t>manufacturing_cost</a:t>
            </a:r>
            <a:r>
              <a:rPr lang="en-US" sz="1800" dirty="0">
                <a:solidFill>
                  <a:schemeClr val="bg1"/>
                </a:solidFill>
                <a:latin typeface="+mj-lt"/>
              </a:rPr>
              <a:t> </a:t>
            </a:r>
            <a:br>
              <a:rPr lang="en-US" sz="1800" dirty="0"/>
            </a:br>
            <a:br>
              <a:rPr lang="en-US" sz="1800" dirty="0"/>
            </a:br>
            <a:r>
              <a:rPr spc="-10" dirty="0"/>
              <a:t>Output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AB7DC5-DE9F-5054-68B0-A7B883CF5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2819400"/>
            <a:ext cx="9296542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996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F7736-101B-16B2-2140-0622351A7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33812AC0-5AE9-01C3-8518-1200192480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47800" y="762000"/>
            <a:ext cx="8650605" cy="209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Question</a:t>
            </a:r>
            <a:r>
              <a:rPr lang="en-US" spc="-10" dirty="0"/>
              <a:t> No. 6</a:t>
            </a:r>
            <a:endParaRPr spc="-10" dirty="0"/>
          </a:p>
          <a:p>
            <a:pPr marL="400050" marR="5080">
              <a:lnSpc>
                <a:spcPct val="100000"/>
              </a:lnSpc>
              <a:spcBef>
                <a:spcPts val="2815"/>
              </a:spcBef>
            </a:pPr>
            <a:r>
              <a:rPr lang="en-US" sz="1800" dirty="0">
                <a:solidFill>
                  <a:schemeClr val="bg1"/>
                </a:solidFill>
                <a:latin typeface="+mj-lt"/>
              </a:rPr>
              <a:t>6. Generate a report which contains the top 5 customers who received an average high </a:t>
            </a:r>
            <a:r>
              <a:rPr lang="en-US" sz="1800" dirty="0" err="1">
                <a:solidFill>
                  <a:schemeClr val="bg1"/>
                </a:solidFill>
                <a:latin typeface="+mj-lt"/>
              </a:rPr>
              <a:t>pre_invoice_discount_pct</a:t>
            </a:r>
            <a:r>
              <a:rPr lang="en-US" sz="1800" dirty="0">
                <a:solidFill>
                  <a:schemeClr val="bg1"/>
                </a:solidFill>
                <a:latin typeface="+mj-lt"/>
              </a:rPr>
              <a:t> for the fiscal year 2021 and in the Indian market. The final output contains these fields, </a:t>
            </a:r>
            <a:r>
              <a:rPr lang="en-US" sz="1800" dirty="0" err="1">
                <a:solidFill>
                  <a:schemeClr val="bg1"/>
                </a:solidFill>
                <a:latin typeface="+mj-lt"/>
              </a:rPr>
              <a:t>customer_code</a:t>
            </a:r>
            <a:r>
              <a:rPr lang="en-US" sz="1800" dirty="0">
                <a:solidFill>
                  <a:schemeClr val="bg1"/>
                </a:solidFill>
                <a:latin typeface="+mj-lt"/>
              </a:rPr>
              <a:t> customer </a:t>
            </a:r>
            <a:r>
              <a:rPr lang="en-US" sz="1800" dirty="0" err="1">
                <a:solidFill>
                  <a:schemeClr val="bg1"/>
                </a:solidFill>
                <a:latin typeface="+mj-lt"/>
              </a:rPr>
              <a:t>average_discount_percentage</a:t>
            </a:r>
            <a:r>
              <a:rPr lang="en-US" sz="1800" dirty="0">
                <a:solidFill>
                  <a:schemeClr val="bg1"/>
                </a:solidFill>
                <a:latin typeface="+mj-lt"/>
              </a:rPr>
              <a:t> </a:t>
            </a:r>
            <a:br>
              <a:rPr lang="en-US" sz="1800" dirty="0">
                <a:solidFill>
                  <a:schemeClr val="bg1"/>
                </a:solidFill>
                <a:latin typeface="+mj-lt"/>
              </a:rPr>
            </a:br>
            <a:br>
              <a:rPr lang="en-US" sz="1800" dirty="0">
                <a:solidFill>
                  <a:schemeClr val="bg1"/>
                </a:solidFill>
                <a:latin typeface="+mj-lt"/>
              </a:rPr>
            </a:br>
            <a:r>
              <a:rPr spc="-10" dirty="0"/>
              <a:t>Output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A24A37-E7D7-C15D-538A-BC91B8979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096" y="3048000"/>
            <a:ext cx="8213388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335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4E208-5DDF-8388-3163-EC5BE2B82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11EC1FDB-DB73-CE07-37B7-B0431482DE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71600" y="381000"/>
            <a:ext cx="8650605" cy="23724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Question</a:t>
            </a:r>
            <a:r>
              <a:rPr lang="en-US" spc="-10" dirty="0"/>
              <a:t> No. 7</a:t>
            </a:r>
            <a:endParaRPr spc="-10" dirty="0"/>
          </a:p>
          <a:p>
            <a:pPr marL="400050" marR="5080">
              <a:lnSpc>
                <a:spcPct val="100000"/>
              </a:lnSpc>
              <a:spcBef>
                <a:spcPts val="2815"/>
              </a:spcBef>
            </a:pPr>
            <a:r>
              <a:rPr lang="en-US" sz="1800" dirty="0">
                <a:solidFill>
                  <a:schemeClr val="bg1"/>
                </a:solidFill>
                <a:latin typeface="+mj-lt"/>
              </a:rPr>
              <a:t>7. Get the complete report of the Gross sales amount for the customer “</a:t>
            </a:r>
            <a:r>
              <a:rPr lang="en-US" sz="1800" dirty="0" err="1">
                <a:solidFill>
                  <a:schemeClr val="bg1"/>
                </a:solidFill>
                <a:latin typeface="+mj-lt"/>
              </a:rPr>
              <a:t>Atliq</a:t>
            </a:r>
            <a:r>
              <a:rPr lang="en-US" sz="1800" dirty="0">
                <a:solidFill>
                  <a:schemeClr val="bg1"/>
                </a:solidFill>
                <a:latin typeface="+mj-lt"/>
              </a:rPr>
              <a:t> Exclusive” for each month . This analysis helps to get an idea of low and high-performing months and take strategic decisions. The final report contains these columns: Month Year Gross sales Amount </a:t>
            </a:r>
            <a:br>
              <a:rPr lang="en-US" sz="1800" dirty="0">
                <a:solidFill>
                  <a:schemeClr val="bg1"/>
                </a:solidFill>
                <a:latin typeface="+mj-lt"/>
              </a:rPr>
            </a:br>
            <a:br>
              <a:rPr lang="en-US" sz="1800" dirty="0">
                <a:solidFill>
                  <a:schemeClr val="bg1"/>
                </a:solidFill>
                <a:latin typeface="+mj-lt"/>
              </a:rPr>
            </a:br>
            <a:r>
              <a:rPr spc="-10" dirty="0"/>
              <a:t>Output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4D4551-4C62-F882-592D-BCDF69341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902" y="2590800"/>
            <a:ext cx="2667000" cy="409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835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64FB4-6C8E-1B61-B750-9D5067B05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BBC2C452-AD5F-2D7B-C5D7-DA9460D6D3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47800" y="762000"/>
            <a:ext cx="8650605" cy="18184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Question</a:t>
            </a:r>
            <a:r>
              <a:rPr lang="en-US" spc="-10" dirty="0"/>
              <a:t> No. 8</a:t>
            </a:r>
            <a:endParaRPr spc="-10" dirty="0"/>
          </a:p>
          <a:p>
            <a:pPr marL="400050" marR="5080">
              <a:lnSpc>
                <a:spcPct val="100000"/>
              </a:lnSpc>
              <a:spcBef>
                <a:spcPts val="2815"/>
              </a:spcBef>
            </a:pPr>
            <a:r>
              <a:rPr lang="en-US" sz="1800" dirty="0">
                <a:solidFill>
                  <a:schemeClr val="bg1"/>
                </a:solidFill>
                <a:latin typeface="+mj-lt"/>
              </a:rPr>
              <a:t>8. In which quarter of 2020, got the maximum </a:t>
            </a:r>
            <a:r>
              <a:rPr lang="en-US" sz="1800" dirty="0" err="1">
                <a:solidFill>
                  <a:schemeClr val="bg1"/>
                </a:solidFill>
                <a:latin typeface="+mj-lt"/>
              </a:rPr>
              <a:t>total_sold_quantity</a:t>
            </a:r>
            <a:r>
              <a:rPr lang="en-US" sz="1800" dirty="0">
                <a:solidFill>
                  <a:schemeClr val="bg1"/>
                </a:solidFill>
                <a:latin typeface="+mj-lt"/>
              </a:rPr>
              <a:t>? The final output contains these fields sorted by the </a:t>
            </a:r>
            <a:r>
              <a:rPr lang="en-US" sz="1800" dirty="0" err="1">
                <a:solidFill>
                  <a:schemeClr val="bg1"/>
                </a:solidFill>
                <a:latin typeface="+mj-lt"/>
              </a:rPr>
              <a:t>total_sold_quantity</a:t>
            </a:r>
            <a:r>
              <a:rPr lang="en-US" sz="1800" dirty="0">
                <a:solidFill>
                  <a:schemeClr val="bg1"/>
                </a:solidFill>
                <a:latin typeface="+mj-lt"/>
              </a:rPr>
              <a:t>, Quarter </a:t>
            </a:r>
            <a:r>
              <a:rPr lang="en-US" sz="1800" dirty="0" err="1">
                <a:solidFill>
                  <a:schemeClr val="bg1"/>
                </a:solidFill>
                <a:latin typeface="+mj-lt"/>
              </a:rPr>
              <a:t>total_sold_quantity</a:t>
            </a:r>
            <a:r>
              <a:rPr lang="en-US" sz="1800" dirty="0">
                <a:solidFill>
                  <a:schemeClr val="bg1"/>
                </a:solidFill>
                <a:latin typeface="+mj-lt"/>
              </a:rPr>
              <a:t> </a:t>
            </a:r>
            <a:br>
              <a:rPr lang="en-US" sz="1800" dirty="0">
                <a:solidFill>
                  <a:schemeClr val="bg1"/>
                </a:solidFill>
                <a:latin typeface="+mj-lt"/>
              </a:rPr>
            </a:br>
            <a:br>
              <a:rPr lang="en-US" sz="1800" dirty="0">
                <a:solidFill>
                  <a:schemeClr val="bg1"/>
                </a:solidFill>
                <a:latin typeface="+mj-lt"/>
              </a:rPr>
            </a:br>
            <a:r>
              <a:rPr spc="-10" dirty="0"/>
              <a:t>Output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26BAAB-3044-4A7B-FFD8-0E2AE0E91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2971800"/>
            <a:ext cx="4724400" cy="250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048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090DD-18C4-9B09-8DF2-C476A3884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093580A8-5F34-BAF4-66BD-C3544BD448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71600" y="669682"/>
            <a:ext cx="8650605" cy="24545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Question</a:t>
            </a:r>
            <a:r>
              <a:rPr lang="en-US" spc="-10" dirty="0"/>
              <a:t> No. 9</a:t>
            </a:r>
            <a:endParaRPr spc="-10" dirty="0"/>
          </a:p>
          <a:p>
            <a:pPr marL="400050" marR="5080">
              <a:lnSpc>
                <a:spcPct val="100000"/>
              </a:lnSpc>
              <a:spcBef>
                <a:spcPts val="2815"/>
              </a:spcBef>
            </a:pPr>
            <a:r>
              <a:rPr lang="en-US" sz="1800" dirty="0">
                <a:solidFill>
                  <a:schemeClr val="bg1"/>
                </a:solidFill>
                <a:latin typeface="+mj-lt"/>
              </a:rPr>
              <a:t>9. Which channel helped to bring more gross sales in the fiscal year 2021 and the percentage of contribution? The final output contains these fields, channel </a:t>
            </a:r>
            <a:r>
              <a:rPr lang="en-US" sz="1800" dirty="0" err="1">
                <a:solidFill>
                  <a:schemeClr val="bg1"/>
                </a:solidFill>
                <a:latin typeface="+mj-lt"/>
              </a:rPr>
              <a:t>gross_sales_mln</a:t>
            </a:r>
            <a:r>
              <a:rPr lang="en-US" sz="1800" dirty="0">
                <a:solidFill>
                  <a:schemeClr val="bg1"/>
                </a:solidFill>
                <a:latin typeface="+mj-lt"/>
              </a:rPr>
              <a:t> percentage</a:t>
            </a:r>
            <a:br>
              <a:rPr lang="en-US" sz="1800" dirty="0"/>
            </a:br>
            <a:endParaRPr lang="en-US" sz="1800" dirty="0"/>
          </a:p>
          <a:p>
            <a:pPr marL="400050" marR="5080">
              <a:lnSpc>
                <a:spcPct val="100000"/>
              </a:lnSpc>
              <a:spcBef>
                <a:spcPts val="2815"/>
              </a:spcBef>
            </a:pPr>
            <a:r>
              <a:rPr spc="-10" dirty="0"/>
              <a:t>Output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CB2E30-18C8-B9F9-0831-7FB99E9C1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3429000"/>
            <a:ext cx="5894177" cy="217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818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277A9-68AD-DA27-BA5E-E73EA6AE3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55EEE5FB-2044-C08B-3A3A-B22C341230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71600" y="669682"/>
            <a:ext cx="8650605" cy="2177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Question</a:t>
            </a:r>
            <a:r>
              <a:rPr lang="en-US" spc="-10" dirty="0"/>
              <a:t> No. 10</a:t>
            </a:r>
            <a:endParaRPr spc="-10" dirty="0"/>
          </a:p>
          <a:p>
            <a:pPr marL="400050" marR="5080">
              <a:lnSpc>
                <a:spcPct val="100000"/>
              </a:lnSpc>
              <a:spcBef>
                <a:spcPts val="2815"/>
              </a:spcBef>
            </a:pPr>
            <a:r>
              <a:rPr lang="en-US" sz="1800" dirty="0">
                <a:solidFill>
                  <a:schemeClr val="bg1"/>
                </a:solidFill>
                <a:latin typeface="+mj-lt"/>
              </a:rPr>
              <a:t>10. Get the Top 3 products in each division that have a high </a:t>
            </a:r>
            <a:r>
              <a:rPr lang="en-US" sz="1800" dirty="0" err="1">
                <a:solidFill>
                  <a:schemeClr val="bg1"/>
                </a:solidFill>
                <a:latin typeface="+mj-lt"/>
              </a:rPr>
              <a:t>total_sold_quantity</a:t>
            </a:r>
            <a:r>
              <a:rPr lang="en-US" sz="1800" dirty="0">
                <a:solidFill>
                  <a:schemeClr val="bg1"/>
                </a:solidFill>
                <a:latin typeface="+mj-lt"/>
              </a:rPr>
              <a:t> in the </a:t>
            </a:r>
            <a:r>
              <a:rPr lang="en-US" sz="1800" dirty="0" err="1">
                <a:solidFill>
                  <a:schemeClr val="bg1"/>
                </a:solidFill>
                <a:latin typeface="+mj-lt"/>
              </a:rPr>
              <a:t>fiscal_year</a:t>
            </a:r>
            <a:r>
              <a:rPr lang="en-US" sz="1800" dirty="0">
                <a:solidFill>
                  <a:schemeClr val="bg1"/>
                </a:solidFill>
                <a:latin typeface="+mj-lt"/>
              </a:rPr>
              <a:t> 2021? The final output contains these fields, division </a:t>
            </a:r>
            <a:r>
              <a:rPr lang="en-US" sz="1800" dirty="0" err="1">
                <a:solidFill>
                  <a:schemeClr val="bg1"/>
                </a:solidFill>
                <a:latin typeface="+mj-lt"/>
              </a:rPr>
              <a:t>product_code</a:t>
            </a:r>
            <a:r>
              <a:rPr lang="en-US" sz="1800" dirty="0">
                <a:solidFill>
                  <a:schemeClr val="bg1"/>
                </a:solidFill>
                <a:latin typeface="+mj-lt"/>
              </a:rPr>
              <a:t> </a:t>
            </a:r>
            <a:br>
              <a:rPr lang="en-US" sz="1800" dirty="0"/>
            </a:br>
            <a:endParaRPr lang="en-US" sz="1800" dirty="0"/>
          </a:p>
          <a:p>
            <a:pPr marL="400050" marR="5080">
              <a:lnSpc>
                <a:spcPct val="100000"/>
              </a:lnSpc>
              <a:spcBef>
                <a:spcPts val="2815"/>
              </a:spcBef>
            </a:pPr>
            <a:r>
              <a:rPr spc="-10" dirty="0"/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E79C3E-49C3-F121-3DD9-4A8475A49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971800"/>
            <a:ext cx="6895978" cy="281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161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Words>620</Words>
  <Application>Microsoft Office PowerPoint</Application>
  <PresentationFormat>Widescreen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Arial MT</vt:lpstr>
      <vt:lpstr>Times New Roman</vt:lpstr>
      <vt:lpstr>Office Theme</vt:lpstr>
      <vt:lpstr>Consumer Goods Ad_Hoc Insights</vt:lpstr>
      <vt:lpstr>PowerPoint Presentation</vt:lpstr>
      <vt:lpstr>PowerPoint Presentation</vt:lpstr>
      <vt:lpstr>Yearly report for ‘croma’ customer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sample_challenge_presentation.pptx</dc:title>
  <cp:lastModifiedBy>Shivam Dehlan</cp:lastModifiedBy>
  <cp:revision>6</cp:revision>
  <dcterms:created xsi:type="dcterms:W3CDTF">2026-03-29T06:46:53Z</dcterms:created>
  <dcterms:modified xsi:type="dcterms:W3CDTF">2026-03-29T12:14:35Z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2026-03-29T00:00:00Z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2026-03-29T00:00:00Z</vt:filetime>
  </property>
</Properties>
</file>